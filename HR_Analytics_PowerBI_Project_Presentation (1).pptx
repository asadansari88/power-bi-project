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828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06840" y="0"/>
            <a:ext cx="3184855" cy="6858000"/>
          </a:xfrm>
          <a:prstGeom prst="rect">
            <a:avLst/>
          </a:prstGeom>
          <a:solidFill>
            <a:srgbClr val="14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55480" y="0"/>
            <a:ext cx="109728" cy="6858000"/>
          </a:xfrm>
          <a:prstGeom prst="rect">
            <a:avLst/>
          </a:prstGeom>
          <a:solidFill>
            <a:srgbClr val="16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530352"/>
            <a:ext cx="7132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6B3B0"/>
                </a:solidFill>
                <a:latin typeface="Aptos"/>
              </a:rPr>
              <a:t>POWER BI  |  BUSINESS ANALYTICS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7223760" cy="1417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Aptos"/>
              </a:rPr>
              <a:t>HR ANALYTICS
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017520"/>
            <a:ext cx="69494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D4DEEB"/>
                </a:solidFill>
                <a:latin typeface="Aptos"/>
              </a:rPr>
              <a:t>Employee Attrition, Workforce &amp; Compensation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4663440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9FB2CA"/>
                </a:solidFill>
                <a:latin typeface="Aptos"/>
              </a:rP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010912"/>
            <a:ext cx="47548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HR Analytics Dashboard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513832"/>
            <a:ext cx="2210862" cy="60016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1100" b="0" dirty="0">
                <a:solidFill>
                  <a:srgbClr val="B8C7DB"/>
                </a:solidFill>
                <a:latin typeface="Aptos"/>
              </a:rPr>
              <a:t>MOHD ASAD ANSARI</a:t>
            </a:r>
          </a:p>
          <a:p>
            <a:pPr algn="l"/>
            <a:r>
              <a:rPr sz="1100" b="0" dirty="0">
                <a:solidFill>
                  <a:srgbClr val="B8C7DB"/>
                </a:solidFill>
                <a:latin typeface="Aptos"/>
              </a:rPr>
              <a:t>BBA • 3rd Semester
Academic Project • October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3840480"/>
            <a:ext cx="146304" cy="914400"/>
          </a:xfrm>
          <a:prstGeom prst="roundRect">
            <a:avLst/>
          </a:prstGeom>
          <a:solidFill>
            <a:srgbClr val="6F8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70463" y="3291840"/>
            <a:ext cx="146304" cy="1463040"/>
          </a:xfrm>
          <a:prstGeom prst="roundRect">
            <a:avLst/>
          </a:prstGeom>
          <a:solidFill>
            <a:srgbClr val="16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899648" y="3611880"/>
            <a:ext cx="146304" cy="1143000"/>
          </a:xfrm>
          <a:prstGeom prst="roundRect">
            <a:avLst/>
          </a:prstGeom>
          <a:solidFill>
            <a:srgbClr val="6F8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228832" y="2926080"/>
            <a:ext cx="146304" cy="1828800"/>
          </a:xfrm>
          <a:prstGeom prst="roundRect">
            <a:avLst/>
          </a:prstGeom>
          <a:solidFill>
            <a:srgbClr val="16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558015" y="3429000"/>
            <a:ext cx="146304" cy="1325880"/>
          </a:xfrm>
          <a:prstGeom prst="roundRect">
            <a:avLst/>
          </a:prstGeom>
          <a:solidFill>
            <a:srgbClr val="6F8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93A6B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2412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0D1B35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10241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 visual analysis of workforce patterns using the Power BI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61872"/>
            <a:ext cx="960120" cy="45720"/>
          </a:xfrm>
          <a:prstGeom prst="rect">
            <a:avLst/>
          </a:prstGeom>
          <a:solidFill>
            <a:srgbClr val="16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69037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D1B35"/>
                </a:solidFill>
                <a:latin typeface="Aptos"/>
              </a:rPr>
              <a:t>Project 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61722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15233D"/>
                </a:solidFill>
                <a:latin typeface="Aptos"/>
              </a:rPr>
              <a:t>• Explore employee attrition and compare employees marked Yes and 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53512"/>
            <a:ext cx="61722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15233D"/>
                </a:solidFill>
                <a:latin typeface="Aptos"/>
              </a:rPr>
              <a:t>• Review hourly and monthly rate measures and compensation differences across job roles.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75304"/>
            <a:ext cx="61722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15233D"/>
                </a:solidFill>
                <a:latin typeface="Aptos"/>
              </a:rPr>
              <a:t>• Understand workforce distribution by department and gender.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97096"/>
            <a:ext cx="61722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15233D"/>
                </a:solidFill>
                <a:latin typeface="Aptos"/>
              </a:rPr>
              <a:t>• Explore the relationship between years at company, age and employee retention.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818888"/>
            <a:ext cx="61722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15233D"/>
                </a:solidFill>
                <a:latin typeface="Aptos"/>
              </a:rPr>
              <a:t>• Present the key information in one dashboard for quick review and discussion.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600200"/>
            <a:ext cx="3520440" cy="4160520"/>
          </a:xfrm>
          <a:prstGeom prst="roundRect">
            <a:avLst/>
          </a:prstGeom>
          <a:solidFill>
            <a:srgbClr val="142746"/>
          </a:solidFill>
          <a:ln w="12700">
            <a:solidFill>
              <a:srgbClr val="14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874519"/>
            <a:ext cx="24688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16B3B0"/>
                </a:solidFill>
                <a:latin typeface="Aptos"/>
              </a:rPr>
              <a:t>TOOLS &amp;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331720"/>
            <a:ext cx="2743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Microsoft Power 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907792"/>
            <a:ext cx="265176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D3DCE8"/>
                </a:solidFill>
                <a:latin typeface="Aptos"/>
              </a:rPr>
              <a:t>Interactive dashboard
KPI cards • charts • visual comparisons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4224528"/>
            <a:ext cx="914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16B3B0"/>
                </a:solidFill>
                <a:latin typeface="Aptos"/>
              </a:rPr>
              <a:t>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4590288"/>
            <a:ext cx="269748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People analytics and
 evidence-based HR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2412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0D1B35"/>
                </a:solidFill>
                <a:latin typeface="Aptos"/>
              </a:rPr>
              <a:t>Dashboard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10241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Power BI dashboard layout recreated from the supplied PBIX.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61872"/>
            <a:ext cx="960120" cy="45720"/>
          </a:xfrm>
          <a:prstGeom prst="rect">
            <a:avLst/>
          </a:prstGeom>
          <a:solidFill>
            <a:srgbClr val="16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5156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Dashboard snapshot taken directly from the Power BI dashboard supplied for this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pic>
        <p:nvPicPr>
          <p:cNvPr id="8" name="Picture 7" descr="Screenshot 2026-10-15 2329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81328"/>
            <a:ext cx="1088136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2412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0D1B35"/>
                </a:solidFill>
                <a:latin typeface="Aptos"/>
              </a:rPr>
              <a:t>Dashboard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10241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Each visual answers a different HR question.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61872"/>
            <a:ext cx="960120" cy="45720"/>
          </a:xfrm>
          <a:prstGeom prst="rect">
            <a:avLst/>
          </a:prstGeom>
          <a:solidFill>
            <a:srgbClr val="16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13232" y="1572768"/>
            <a:ext cx="306324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1572768"/>
            <a:ext cx="64008" cy="1572768"/>
          </a:xfrm>
          <a:prstGeom prst="rect">
            <a:avLst/>
          </a:prstGeom>
          <a:solidFill>
            <a:srgbClr val="16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783080"/>
            <a:ext cx="26060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D1B35"/>
                </a:solidFill>
                <a:latin typeface="Aptos"/>
              </a:rPr>
              <a:t>KPI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86000"/>
            <a:ext cx="2824812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 dirty="0">
                <a:solidFill>
                  <a:srgbClr val="15233D"/>
                </a:solidFill>
                <a:latin typeface="Aptos"/>
              </a:rPr>
              <a:t>Quick view of employee count, attrition and rate</a:t>
            </a:r>
            <a:endParaRPr lang="en-US" sz="1000" b="0" dirty="0">
              <a:solidFill>
                <a:srgbClr val="15233D"/>
              </a:solidFill>
              <a:latin typeface="Aptos"/>
            </a:endParaRPr>
          </a:p>
          <a:p>
            <a:pPr algn="l"/>
            <a:r>
              <a:rPr sz="1000" b="0" dirty="0">
                <a:solidFill>
                  <a:srgbClr val="15233D"/>
                </a:solidFill>
                <a:latin typeface="Aptos"/>
              </a:rPr>
              <a:t> measures.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6512" y="1572768"/>
            <a:ext cx="306324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96512" y="1572768"/>
            <a:ext cx="64008" cy="1572768"/>
          </a:xfrm>
          <a:prstGeom prst="rect">
            <a:avLst/>
          </a:prstGeom>
          <a:solidFill>
            <a:srgbClr val="7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5112" y="1783080"/>
            <a:ext cx="26060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D1B35"/>
                </a:solidFill>
                <a:latin typeface="Aptos"/>
              </a:rPr>
              <a:t>Attrition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2286000"/>
            <a:ext cx="2582758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 dirty="0">
                <a:solidFill>
                  <a:srgbClr val="15233D"/>
                </a:solidFill>
                <a:latin typeface="Aptos"/>
              </a:rPr>
              <a:t>Compares employees marked Yes vs No for</a:t>
            </a:r>
            <a:endParaRPr lang="en-US" sz="1000" b="0" dirty="0">
              <a:solidFill>
                <a:srgbClr val="15233D"/>
              </a:solidFill>
              <a:latin typeface="Aptos"/>
            </a:endParaRPr>
          </a:p>
          <a:p>
            <a:pPr algn="l"/>
            <a:r>
              <a:rPr sz="1000" b="0" dirty="0">
                <a:solidFill>
                  <a:srgbClr val="15233D"/>
                </a:solidFill>
                <a:latin typeface="Aptos"/>
              </a:rPr>
              <a:t> attrition.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79792" y="1572768"/>
            <a:ext cx="306324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79792" y="1572768"/>
            <a:ext cx="64008" cy="1572768"/>
          </a:xfrm>
          <a:prstGeom prst="rect">
            <a:avLst/>
          </a:prstGeom>
          <a:solidFill>
            <a:srgbClr val="29C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1783080"/>
            <a:ext cx="26060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D1B35"/>
                </a:solidFill>
                <a:latin typeface="Aptos"/>
              </a:rPr>
              <a:t>Monthly income by job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2286000"/>
            <a:ext cx="2719014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 dirty="0">
                <a:solidFill>
                  <a:srgbClr val="15233D"/>
                </a:solidFill>
                <a:latin typeface="Aptos"/>
              </a:rPr>
              <a:t>Highlights the compensation hierarchy across</a:t>
            </a:r>
            <a:endParaRPr lang="en-US" sz="1000" b="0" dirty="0">
              <a:solidFill>
                <a:srgbClr val="15233D"/>
              </a:solidFill>
              <a:latin typeface="Aptos"/>
            </a:endParaRPr>
          </a:p>
          <a:p>
            <a:pPr algn="l"/>
            <a:r>
              <a:rPr sz="1000" b="0" dirty="0">
                <a:solidFill>
                  <a:srgbClr val="15233D"/>
                </a:solidFill>
                <a:latin typeface="Aptos"/>
              </a:rPr>
              <a:t> roles.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703320"/>
            <a:ext cx="306324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" y="3703320"/>
            <a:ext cx="64008" cy="1572768"/>
          </a:xfrm>
          <a:prstGeom prst="rect">
            <a:avLst/>
          </a:prstGeom>
          <a:solidFill>
            <a:srgbClr val="16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3913632"/>
            <a:ext cx="26060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D1B35"/>
                </a:solidFill>
                <a:latin typeface="Aptos"/>
              </a:rPr>
              <a:t>Department by gender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416552"/>
            <a:ext cx="2896947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 dirty="0">
                <a:solidFill>
                  <a:srgbClr val="15233D"/>
                </a:solidFill>
                <a:latin typeface="Aptos"/>
              </a:rPr>
              <a:t>Shows workforce distribution by department and </a:t>
            </a:r>
            <a:endParaRPr lang="en-US" sz="1000" b="0" dirty="0">
              <a:solidFill>
                <a:srgbClr val="15233D"/>
              </a:solidFill>
              <a:latin typeface="Aptos"/>
            </a:endParaRPr>
          </a:p>
          <a:p>
            <a:pPr algn="l"/>
            <a:r>
              <a:rPr sz="1000" b="0" dirty="0">
                <a:solidFill>
                  <a:srgbClr val="15233D"/>
                </a:solidFill>
                <a:latin typeface="Aptos"/>
              </a:rPr>
              <a:t>gender.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3703320"/>
            <a:ext cx="306324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96512" y="3703320"/>
            <a:ext cx="64008" cy="1572768"/>
          </a:xfrm>
          <a:prstGeom prst="rect">
            <a:avLst/>
          </a:prstGeom>
          <a:solidFill>
            <a:srgbClr val="7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25112" y="3913632"/>
            <a:ext cx="26060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D1B35"/>
                </a:solidFill>
                <a:latin typeface="Aptos"/>
              </a:rPr>
              <a:t>Years at company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4416552"/>
            <a:ext cx="2634054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 dirty="0">
                <a:solidFill>
                  <a:srgbClr val="15233D"/>
                </a:solidFill>
                <a:latin typeface="Aptos"/>
              </a:rPr>
              <a:t>Shows how workforce/attrition changes with</a:t>
            </a:r>
            <a:endParaRPr lang="en-US" sz="1000" b="0" dirty="0">
              <a:solidFill>
                <a:srgbClr val="15233D"/>
              </a:solidFill>
              <a:latin typeface="Aptos"/>
            </a:endParaRPr>
          </a:p>
          <a:p>
            <a:pPr algn="l"/>
            <a:r>
              <a:rPr sz="1000" b="0" dirty="0">
                <a:solidFill>
                  <a:srgbClr val="15233D"/>
                </a:solidFill>
                <a:latin typeface="Aptos"/>
              </a:rPr>
              <a:t> tenure.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9792" y="3703320"/>
            <a:ext cx="306324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79792" y="3703320"/>
            <a:ext cx="64008" cy="1572768"/>
          </a:xfrm>
          <a:prstGeom prst="rect">
            <a:avLst/>
          </a:prstGeom>
          <a:solidFill>
            <a:srgbClr val="29C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08392" y="3913632"/>
            <a:ext cx="26060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D1B35"/>
                </a:solidFill>
                <a:latin typeface="Aptos"/>
              </a:rPr>
              <a:t>Age &amp; salary cuts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8392" y="4416552"/>
            <a:ext cx="2606040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15233D"/>
                </a:solidFill>
                <a:latin typeface="Aptos"/>
              </a:rPr>
              <a:t>Adds context on where attrition is concentrated.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2412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0D1B35"/>
                </a:solidFill>
                <a:latin typeface="Aptos"/>
              </a:rPr>
              <a:t>Workforce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10241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The dashboard gives a compact view of workforce scale and composition.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61872"/>
            <a:ext cx="960120" cy="45720"/>
          </a:xfrm>
          <a:prstGeom prst="rect">
            <a:avLst/>
          </a:prstGeom>
          <a:solidFill>
            <a:srgbClr val="16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36192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00784"/>
            <a:ext cx="19659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6B3B0"/>
                </a:solidFill>
                <a:latin typeface="Aptos"/>
              </a:rPr>
              <a:t>1,470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965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Total employees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2112" y="1536192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64992" y="1700784"/>
            <a:ext cx="19659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7B5CFF"/>
                </a:solidFill>
                <a:latin typeface="Aptos"/>
              </a:rPr>
              <a:t>237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2194560"/>
            <a:ext cx="1965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Employees with attrition = Yes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78424" y="1536192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61304" y="1700784"/>
            <a:ext cx="19659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29C7F6"/>
                </a:solidFill>
                <a:latin typeface="Aptos"/>
              </a:rPr>
              <a:t>65.89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1304" y="2194560"/>
            <a:ext cx="1965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Average hourly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536192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7615" y="1700784"/>
            <a:ext cx="19659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6B3B0"/>
                </a:solidFill>
                <a:latin typeface="Aptos"/>
              </a:rPr>
              <a:t>14.3K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5" y="2194560"/>
            <a:ext cx="1965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Average monthly rate</a:t>
            </a:r>
          </a:p>
        </p:txBody>
      </p:sp>
      <p:pic>
        <p:nvPicPr>
          <p:cNvPr id="17" name="Picture 16" descr="d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54680"/>
            <a:ext cx="5257800" cy="26974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172200" y="3154680"/>
            <a:ext cx="461772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438144"/>
            <a:ext cx="2286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D1B35"/>
                </a:solidFill>
                <a:latin typeface="Aptos"/>
              </a:rPr>
              <a:t>What stands 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950208"/>
            <a:ext cx="3977639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15233D"/>
                </a:solidFill>
                <a:latin typeface="Aptos"/>
              </a:rPr>
              <a:t>• Research &amp; Development contains the majority of employees (961).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25696"/>
            <a:ext cx="3977639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15233D"/>
                </a:solidFill>
                <a:latin typeface="Aptos"/>
              </a:rPr>
              <a:t>• Sales is the second-largest workforce group (446).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01183"/>
            <a:ext cx="3977639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15233D"/>
                </a:solidFill>
                <a:latin typeface="Aptos"/>
              </a:rPr>
              <a:t>• Human Resources is a small specialist function (63).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376671"/>
            <a:ext cx="3977639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15233D"/>
                </a:solidFill>
                <a:latin typeface="Aptos"/>
              </a:rPr>
              <a:t>• The workforce is 60% male and 40% female.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2412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0D1B35"/>
                </a:solidFill>
                <a:latin typeface="Aptos"/>
              </a:rPr>
              <a:t>Attrition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10241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Attrition is concentrated in specific departments, roles and employee segments.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61872"/>
            <a:ext cx="960120" cy="45720"/>
          </a:xfrm>
          <a:prstGeom prst="rect">
            <a:avLst/>
          </a:prstGeom>
          <a:solidFill>
            <a:srgbClr val="16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ept_at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08760"/>
            <a:ext cx="5257800" cy="2331720"/>
          </a:xfrm>
          <a:prstGeom prst="rect">
            <a:avLst/>
          </a:prstGeom>
        </p:spPr>
      </p:pic>
      <p:pic>
        <p:nvPicPr>
          <p:cNvPr id="6" name="Picture 5" descr="role_at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08760"/>
            <a:ext cx="5257800" cy="2331720"/>
          </a:xfrm>
          <a:prstGeom prst="rect">
            <a:avLst/>
          </a:prstGeom>
        </p:spPr>
      </p:pic>
      <p:pic>
        <p:nvPicPr>
          <p:cNvPr id="7" name="Picture 6" descr="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41648"/>
            <a:ext cx="5257800" cy="2057400"/>
          </a:xfrm>
          <a:prstGeom prst="rect">
            <a:avLst/>
          </a:prstGeom>
        </p:spPr>
      </p:pic>
      <p:pic>
        <p:nvPicPr>
          <p:cNvPr id="8" name="Picture 7" descr="sal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041648"/>
            <a:ext cx="5257800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2412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0D1B35"/>
                </a:solidFill>
                <a:latin typeface="Aptos"/>
              </a:rPr>
              <a:t>Compensation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10241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Income varies sharply by role, making compensation an important retention lens.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61872"/>
            <a:ext cx="960120" cy="45720"/>
          </a:xfrm>
          <a:prstGeom prst="rect">
            <a:avLst/>
          </a:prstGeom>
          <a:solidFill>
            <a:srgbClr val="16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n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44752"/>
            <a:ext cx="6583680" cy="4800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79792" y="1508760"/>
            <a:ext cx="4160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54112" y="1783080"/>
            <a:ext cx="23774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D1B35"/>
                </a:solidFill>
                <a:latin typeface="Aptos"/>
              </a:rP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54112" y="2331720"/>
            <a:ext cx="3494867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 dirty="0">
                <a:solidFill>
                  <a:srgbClr val="15233D"/>
                </a:solidFill>
                <a:latin typeface="Aptos"/>
              </a:rPr>
              <a:t>• Managers and Research Directors sit at the top of the</a:t>
            </a:r>
            <a:endParaRPr lang="en-US" sz="1100" b="0" dirty="0">
              <a:solidFill>
                <a:srgbClr val="15233D"/>
              </a:solidFill>
              <a:latin typeface="Aptos"/>
            </a:endParaRPr>
          </a:p>
          <a:p>
            <a:pPr algn="l"/>
            <a:r>
              <a:rPr lang="en-US" sz="1100" dirty="0">
                <a:solidFill>
                  <a:srgbClr val="15233D"/>
                </a:solidFill>
                <a:latin typeface="Aptos"/>
              </a:rPr>
              <a:t>  </a:t>
            </a:r>
            <a:r>
              <a:rPr sz="1100" b="0" dirty="0">
                <a:solidFill>
                  <a:srgbClr val="15233D"/>
                </a:solidFill>
                <a:latin typeface="Aptos"/>
              </a:rPr>
              <a:t> salary hierarchy.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2" y="3081527"/>
            <a:ext cx="4049507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 dirty="0">
                <a:solidFill>
                  <a:srgbClr val="15233D"/>
                </a:solidFill>
                <a:latin typeface="Aptos"/>
              </a:rPr>
              <a:t>• Sales Representatives, Laboratory Technicians and </a:t>
            </a:r>
            <a:endParaRPr lang="en-US" sz="1100" b="0" dirty="0">
              <a:solidFill>
                <a:srgbClr val="15233D"/>
              </a:solidFill>
              <a:latin typeface="Aptos"/>
            </a:endParaRPr>
          </a:p>
          <a:p>
            <a:pPr algn="l"/>
            <a:r>
              <a:rPr lang="en-US" sz="1100" b="0" dirty="0">
                <a:solidFill>
                  <a:srgbClr val="15233D"/>
                </a:solidFill>
                <a:latin typeface="Aptos"/>
              </a:rPr>
              <a:t>   </a:t>
            </a:r>
            <a:r>
              <a:rPr sz="1100" b="0" dirty="0">
                <a:solidFill>
                  <a:srgbClr val="15233D"/>
                </a:solidFill>
                <a:latin typeface="Aptos"/>
              </a:rPr>
              <a:t>Research Scientists have the lowest average monthly income.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3831335"/>
            <a:ext cx="3635932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 dirty="0">
                <a:solidFill>
                  <a:srgbClr val="15233D"/>
                </a:solidFill>
                <a:latin typeface="Aptos"/>
              </a:rPr>
              <a:t>• The dashboard’s rate cards provide a quick benchmark </a:t>
            </a:r>
            <a:endParaRPr lang="en-US" sz="1100" b="0" dirty="0">
              <a:solidFill>
                <a:srgbClr val="15233D"/>
              </a:solidFill>
              <a:latin typeface="Aptos"/>
            </a:endParaRPr>
          </a:p>
          <a:p>
            <a:pPr algn="l"/>
            <a:r>
              <a:rPr lang="en-US" sz="1100" dirty="0">
                <a:solidFill>
                  <a:srgbClr val="15233D"/>
                </a:solidFill>
                <a:latin typeface="Aptos"/>
              </a:rPr>
              <a:t>    </a:t>
            </a:r>
            <a:r>
              <a:rPr sz="1100" b="0" dirty="0">
                <a:solidFill>
                  <a:srgbClr val="15233D"/>
                </a:solidFill>
                <a:latin typeface="Aptos"/>
              </a:rPr>
              <a:t>before drilling into job roles.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2" y="4581144"/>
            <a:ext cx="3727302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 dirty="0">
                <a:solidFill>
                  <a:srgbClr val="15233D"/>
                </a:solidFill>
                <a:latin typeface="Aptos"/>
              </a:rPr>
              <a:t>• Compensation should be reviewed alongside tenure and</a:t>
            </a:r>
            <a:r>
              <a:rPr lang="en-US" sz="1100" b="0" dirty="0">
                <a:solidFill>
                  <a:srgbClr val="15233D"/>
                </a:solidFill>
                <a:latin typeface="Aptos"/>
              </a:rPr>
              <a:t> </a:t>
            </a:r>
          </a:p>
          <a:p>
            <a:pPr algn="l"/>
            <a:r>
              <a:rPr lang="en-US" sz="1100" dirty="0">
                <a:solidFill>
                  <a:srgbClr val="15233D"/>
                </a:solidFill>
                <a:latin typeface="Aptos"/>
              </a:rPr>
              <a:t>    </a:t>
            </a:r>
            <a:r>
              <a:rPr sz="1100" b="0" dirty="0">
                <a:solidFill>
                  <a:srgbClr val="15233D"/>
                </a:solidFill>
                <a:latin typeface="Aptos"/>
              </a:rPr>
              <a:t>attrition rather than in isolation.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2412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0D1B35"/>
                </a:solidFill>
                <a:latin typeface="Aptos"/>
              </a:rPr>
              <a:t>Tenure &amp; Retention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10241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Early tenure is a critical zone for monitoring employee exits.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61872"/>
            <a:ext cx="960120" cy="45720"/>
          </a:xfrm>
          <a:prstGeom prst="rect">
            <a:avLst/>
          </a:prstGeom>
          <a:solidFill>
            <a:srgbClr val="16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81328"/>
            <a:ext cx="649224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06640" y="1536192"/>
            <a:ext cx="4160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99248" y="1810512"/>
            <a:ext cx="3200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D1B35"/>
                </a:solidFill>
                <a:latin typeface="Aptos"/>
              </a:rPr>
              <a:t>What the pattern suggests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2359152"/>
            <a:ext cx="3692036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 dirty="0">
                <a:solidFill>
                  <a:srgbClr val="15233D"/>
                </a:solidFill>
                <a:latin typeface="Aptos"/>
              </a:rPr>
              <a:t>• The highest visible attrition count occurs around the first</a:t>
            </a:r>
            <a:endParaRPr lang="en-US" sz="1100" b="0" dirty="0">
              <a:solidFill>
                <a:srgbClr val="15233D"/>
              </a:solidFill>
              <a:latin typeface="Aptos"/>
            </a:endParaRPr>
          </a:p>
          <a:p>
            <a:pPr algn="l"/>
            <a:r>
              <a:rPr lang="en-US" sz="1100" dirty="0">
                <a:solidFill>
                  <a:srgbClr val="15233D"/>
                </a:solidFill>
                <a:latin typeface="Aptos"/>
              </a:rPr>
              <a:t>   </a:t>
            </a:r>
            <a:r>
              <a:rPr sz="1100" b="0" dirty="0">
                <a:solidFill>
                  <a:srgbClr val="15233D"/>
                </a:solidFill>
                <a:latin typeface="Aptos"/>
              </a:rPr>
              <a:t> few years at the company.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3145536"/>
            <a:ext cx="3544560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 dirty="0">
                <a:solidFill>
                  <a:srgbClr val="15233D"/>
                </a:solidFill>
                <a:latin typeface="Aptos"/>
              </a:rPr>
              <a:t>• Attrition falls as tenure increases, with smaller counts</a:t>
            </a:r>
            <a:endParaRPr lang="en-US" sz="1100" b="0" dirty="0">
              <a:solidFill>
                <a:srgbClr val="15233D"/>
              </a:solidFill>
              <a:latin typeface="Aptos"/>
            </a:endParaRPr>
          </a:p>
          <a:p>
            <a:pPr algn="l"/>
            <a:r>
              <a:rPr lang="en-US" sz="1100" dirty="0">
                <a:solidFill>
                  <a:srgbClr val="15233D"/>
                </a:solidFill>
                <a:latin typeface="Aptos"/>
              </a:rPr>
              <a:t>  </a:t>
            </a:r>
            <a:r>
              <a:rPr sz="1100" b="0" dirty="0">
                <a:solidFill>
                  <a:srgbClr val="15233D"/>
                </a:solidFill>
                <a:latin typeface="Aptos"/>
              </a:rPr>
              <a:t> among longer-tenured employees.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3931920"/>
            <a:ext cx="3950120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 dirty="0">
                <a:solidFill>
                  <a:srgbClr val="15233D"/>
                </a:solidFill>
                <a:latin typeface="Aptos"/>
              </a:rPr>
              <a:t>• Retention programs should focus on onboarding, career </a:t>
            </a:r>
            <a:endParaRPr lang="en-US" sz="1100" b="0" dirty="0">
              <a:solidFill>
                <a:srgbClr val="15233D"/>
              </a:solidFill>
              <a:latin typeface="Aptos"/>
            </a:endParaRPr>
          </a:p>
          <a:p>
            <a:pPr algn="l"/>
            <a:r>
              <a:rPr lang="en-US" sz="1100" dirty="0">
                <a:solidFill>
                  <a:srgbClr val="15233D"/>
                </a:solidFill>
                <a:latin typeface="Aptos"/>
              </a:rPr>
              <a:t>    </a:t>
            </a:r>
            <a:r>
              <a:rPr sz="1100" b="0" dirty="0">
                <a:solidFill>
                  <a:srgbClr val="15233D"/>
                </a:solidFill>
                <a:latin typeface="Aptos"/>
              </a:rPr>
              <a:t>growth and manager support early in the employee lifecycle.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4718304"/>
            <a:ext cx="3667992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 dirty="0">
                <a:solidFill>
                  <a:srgbClr val="15233D"/>
                </a:solidFill>
                <a:latin typeface="Aptos"/>
              </a:rPr>
              <a:t>• Tenure should be interpreted together with role, age an</a:t>
            </a:r>
            <a:r>
              <a:rPr lang="en-US" sz="1100" dirty="0">
                <a:solidFill>
                  <a:srgbClr val="15233D"/>
                </a:solidFill>
                <a:latin typeface="Aptos"/>
              </a:rPr>
              <a:t>d</a:t>
            </a:r>
          </a:p>
          <a:p>
            <a:pPr algn="l"/>
            <a:r>
              <a:rPr lang="en-US" sz="1100" b="0" dirty="0">
                <a:solidFill>
                  <a:srgbClr val="15233D"/>
                </a:solidFill>
                <a:latin typeface="Aptos"/>
              </a:rPr>
              <a:t>   </a:t>
            </a:r>
            <a:r>
              <a:rPr sz="1100" b="0" dirty="0">
                <a:solidFill>
                  <a:srgbClr val="15233D"/>
                </a:solidFill>
                <a:latin typeface="Aptos"/>
              </a:rPr>
              <a:t> compensation.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2412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0D1B35"/>
                </a:solidFill>
                <a:latin typeface="Aptos"/>
              </a:rPr>
              <a:t>HR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10241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Translate the dashboard patterns into practical HR 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61872"/>
            <a:ext cx="960120" cy="45720"/>
          </a:xfrm>
          <a:prstGeom prst="rect">
            <a:avLst/>
          </a:prstGeom>
          <a:solidFill>
            <a:srgbClr val="16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44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" y="1755648"/>
            <a:ext cx="530352" cy="530352"/>
          </a:xfrm>
          <a:prstGeom prst="ellipse">
            <a:avLst/>
          </a:prstGeom>
          <a:solidFill>
            <a:srgbClr val="16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847088"/>
            <a:ext cx="530352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1719072"/>
            <a:ext cx="2926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D1B35"/>
                </a:solidFill>
                <a:latin typeface="Aptos"/>
              </a:rPr>
              <a:t>Monitor attrition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2057400"/>
            <a:ext cx="8869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15233D"/>
                </a:solidFill>
                <a:latin typeface="Aptos"/>
              </a:rPr>
              <a:t>Track the number and percentage of employees leaving by department, role and tenure.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79191"/>
            <a:ext cx="10744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32688" y="2926079"/>
            <a:ext cx="530352" cy="530352"/>
          </a:xfrm>
          <a:prstGeom prst="ellipse">
            <a:avLst/>
          </a:prstGeom>
          <a:solidFill>
            <a:srgbClr val="16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3017520"/>
            <a:ext cx="530352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072" y="2889503"/>
            <a:ext cx="2926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D1B35"/>
                </a:solidFill>
                <a:latin typeface="Aptos"/>
              </a:rPr>
              <a:t>Review compensation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3227832"/>
            <a:ext cx="8869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15233D"/>
                </a:solidFill>
                <a:latin typeface="Aptos"/>
              </a:rPr>
              <a:t>Compare pay within similar roles and investigate unusual gaps or low-pay/high-attrition segments.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849624"/>
            <a:ext cx="10744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32688" y="4096512"/>
            <a:ext cx="530352" cy="530352"/>
          </a:xfrm>
          <a:prstGeom prst="ellipse">
            <a:avLst/>
          </a:prstGeom>
          <a:solidFill>
            <a:srgbClr val="16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187952"/>
            <a:ext cx="530352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4059936"/>
            <a:ext cx="2926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D1B35"/>
                </a:solidFill>
                <a:latin typeface="Aptos"/>
              </a:rPr>
              <a:t>Strengthen early-tenure 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9072" y="4398264"/>
            <a:ext cx="8869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15233D"/>
                </a:solidFill>
                <a:latin typeface="Aptos"/>
              </a:rPr>
              <a:t>Use onboarding check-ins, manager support and career-development conversations during the first few years.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20056"/>
            <a:ext cx="10744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32688" y="5266944"/>
            <a:ext cx="530352" cy="530352"/>
          </a:xfrm>
          <a:prstGeom prst="ellipse">
            <a:avLst/>
          </a:prstGeom>
          <a:solidFill>
            <a:srgbClr val="16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5358384"/>
            <a:ext cx="530352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19072" y="5230368"/>
            <a:ext cx="2926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D1B35"/>
                </a:solidFill>
                <a:latin typeface="Aptos"/>
              </a:rPr>
              <a:t>Use dashboard filters consistently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19072" y="5568696"/>
            <a:ext cx="8869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15233D"/>
                </a:solidFill>
                <a:latin typeface="Aptos"/>
              </a:rPr>
              <a:t>Validate measures, aggregation and filter context before presenting a KPI as a business decision.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4864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16B3B0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34440"/>
            <a:ext cx="667512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Turning HR data into
clearer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880360"/>
            <a:ext cx="6961521" cy="69249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 dirty="0">
                <a:solidFill>
                  <a:srgbClr val="D4DEEB"/>
                </a:solidFill>
                <a:latin typeface="Aptos"/>
              </a:rPr>
              <a:t>The Power BI dashboard brings workforce size, attrition, compensation, department structure</a:t>
            </a:r>
            <a:endParaRPr lang="en-US" sz="1300" b="0" dirty="0">
              <a:solidFill>
                <a:srgbClr val="D4DEEB"/>
              </a:solidFill>
              <a:latin typeface="Aptos"/>
            </a:endParaRPr>
          </a:p>
          <a:p>
            <a:pPr algn="l"/>
            <a:r>
              <a:rPr sz="1300" b="0" dirty="0">
                <a:solidFill>
                  <a:srgbClr val="D4DEEB"/>
                </a:solidFill>
                <a:latin typeface="Aptos"/>
              </a:rPr>
              <a:t> and tenure into one visual workspace. The strongest value comes from combining the KPI view </a:t>
            </a:r>
            <a:endParaRPr lang="en-US" sz="1300" b="0" dirty="0">
              <a:solidFill>
                <a:srgbClr val="D4DEEB"/>
              </a:solidFill>
              <a:latin typeface="Aptos"/>
            </a:endParaRPr>
          </a:p>
          <a:p>
            <a:pPr algn="l"/>
            <a:r>
              <a:rPr sz="1300" b="0" dirty="0">
                <a:solidFill>
                  <a:srgbClr val="D4DEEB"/>
                </a:solidFill>
                <a:latin typeface="Aptos"/>
              </a:rPr>
              <a:t>with role, department and tenure-level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4224528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16B3B0"/>
                </a:solidFill>
                <a:latin typeface="Aptos"/>
              </a:rPr>
              <a:t>Key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4590288"/>
            <a:ext cx="6506012" cy="58477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Use the dashboard to identify where retention attention is needed —</a:t>
            </a:r>
            <a:endParaRPr lang="en-US" sz="1600" b="1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 then validate the underlying measure before acting.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07908" y="1157909"/>
            <a:ext cx="2514600" cy="4343400"/>
          </a:xfrm>
          <a:prstGeom prst="roundRect">
            <a:avLst/>
          </a:prstGeom>
          <a:solidFill>
            <a:srgbClr val="142746"/>
          </a:solidFill>
          <a:ln w="12700">
            <a:solidFill>
              <a:srgbClr val="31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96528" y="1783080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16B3B0"/>
                </a:solidFill>
                <a:latin typeface="Aptos"/>
              </a:rPr>
              <a:t>PROJECT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2221992"/>
            <a:ext cx="1737360" cy="7772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HR Analytics
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3977639"/>
            <a:ext cx="1317990" cy="24622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 dirty="0">
                <a:solidFill>
                  <a:srgbClr val="B8C7DB"/>
                </a:solidFill>
                <a:latin typeface="Aptos"/>
              </a:rPr>
              <a:t>BBA • 3rd Semester</a:t>
            </a:r>
            <a:endParaRPr lang="en-US" sz="1000" b="1" dirty="0">
              <a:solidFill>
                <a:srgbClr val="B8C7D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96528" y="4434840"/>
            <a:ext cx="17373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B8C7DB"/>
                </a:solidFill>
                <a:latin typeface="Aptos"/>
              </a:rPr>
              <a:t>Academic Project
October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989320"/>
            <a:ext cx="2011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6B3B0"/>
                </a:solidFill>
                <a:latin typeface="Aptos"/>
              </a:rP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692</Words>
  <Application>Microsoft Office PowerPoint</Application>
  <PresentationFormat>Widescreen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arshad ansari</cp:lastModifiedBy>
  <cp:revision>2</cp:revision>
  <dcterms:created xsi:type="dcterms:W3CDTF">2013-01-27T09:14:16Z</dcterms:created>
  <dcterms:modified xsi:type="dcterms:W3CDTF">2026-10-15T18:07:40Z</dcterms:modified>
  <cp:category/>
</cp:coreProperties>
</file>